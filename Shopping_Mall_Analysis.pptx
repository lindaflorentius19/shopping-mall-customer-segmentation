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690" autoAdjust="0"/>
  </p:normalViewPr>
  <p:slideViewPr>
    <p:cSldViewPr snapToGrid="0">
      <p:cViewPr>
        <p:scale>
          <a:sx n="66" d="100"/>
          <a:sy n="66" d="100"/>
        </p:scale>
        <p:origin x="668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B2E6-595B-48BC-A28C-3A0103DB84E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C76D6-B9A3-4D23-BC9E-92E11A8BD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0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F383-C1B3-41C0-BEEB-68F583D1B70A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7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B7A4-CD93-4142-B2C3-98E7B70AF300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2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5D38-2BE0-43C1-A7E2-16F4C86ED7F7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3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AF1C-BA45-44AB-9D86-D9C5725B75B0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0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0BFB-2A3B-4189-ACC2-10559142ED02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9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1DF3-4877-463A-965A-4C693331B356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AB63-84E7-4EA6-91CC-037182611871}" type="datetime1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9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78D8-0B34-409A-9366-2B988D75372D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1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D89D-0FA3-421D-A082-4BD424CCE5DF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B431-D573-41D5-A808-150934F5AA88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4AB3-A42A-4C8E-83C9-AEC1E40E6BA4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2877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4817-9504-48E9-9CF9-0331D411D7CC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91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EC0B7-334B-40B7-8A9E-AA07329123C9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3203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B493-3447-4434-93F5-15A82E6BCEB8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92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6F24-7F4B-4591-A7C8-EFDB727959CB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85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63230-5B7D-429B-AC63-A21C64D933DB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6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DBE8E-FCE5-4977-848A-03EC89DBB20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Linda Florentius K.A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631E61D-4D10-492F-BF4F-844439EB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2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D00F-DDBE-4509-9656-75689B05B5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Shopping Mall Customer Segmentation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1E0E4-4B95-42E9-A032-D93E955CD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Business Analyst Internship Project</a:t>
            </a: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Name: Linda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Florentius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</a:t>
            </a: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Date: May 2025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7CB1C-8A2B-4239-9DA4-F3FB8F4A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Linda </a:t>
            </a:r>
            <a:r>
              <a:rPr lang="en-US" b="1" dirty="0" err="1"/>
              <a:t>Florentius</a:t>
            </a:r>
            <a:r>
              <a:rPr lang="en-US" b="1" dirty="0"/>
              <a:t> K.A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4A554-5F66-4E67-92B6-1EEAA69B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AFEC-F732-44F6-908F-FA387393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54FE-C294-4015-A12B-3DD0CE8E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b="1" i="1" dirty="0"/>
              <a:t>Objective</a:t>
            </a:r>
            <a:r>
              <a:rPr lang="en-US" dirty="0"/>
              <a:t>:</a:t>
            </a:r>
          </a:p>
          <a:p>
            <a:r>
              <a:rPr lang="en-US" dirty="0"/>
              <a:t>Analyze customer demographics and spending behavior</a:t>
            </a:r>
          </a:p>
          <a:p>
            <a:r>
              <a:rPr lang="en-US" dirty="0"/>
              <a:t>Identify customer segments</a:t>
            </a:r>
          </a:p>
          <a:p>
            <a:r>
              <a:rPr lang="en-US" dirty="0"/>
              <a:t>Provide actionable business insights</a:t>
            </a:r>
          </a:p>
          <a:p>
            <a:endParaRPr lang="en-US" dirty="0"/>
          </a:p>
          <a:p>
            <a:r>
              <a:rPr lang="en-US" sz="2100" b="1" i="1" dirty="0"/>
              <a:t>Dataset</a:t>
            </a:r>
            <a:r>
              <a:rPr lang="en-US" dirty="0"/>
              <a:t>:</a:t>
            </a:r>
          </a:p>
          <a:p>
            <a:r>
              <a:rPr lang="en-US" dirty="0"/>
              <a:t>15,079 customers</a:t>
            </a:r>
          </a:p>
          <a:p>
            <a:r>
              <a:rPr lang="en-US" dirty="0"/>
              <a:t>5 columns — ID, Age, Gender, Income, Spending Score</a:t>
            </a:r>
          </a:p>
          <a:p>
            <a:r>
              <a:rPr lang="en-US" dirty="0"/>
              <a:t>Source: Shopping Mall Records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0D1F1-E239-498F-8DF2-D0F7C4F9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2C8D6-11C6-42E0-B916-ABD633FF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2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ED94-6652-4CA8-9F6D-7BBC44CD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8DE3E-C3B1-41B6-9D8B-E515F8A7C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missing values found</a:t>
            </a:r>
          </a:p>
          <a:p>
            <a:r>
              <a:rPr lang="en-US" dirty="0"/>
              <a:t>No duplicate rows found</a:t>
            </a:r>
          </a:p>
          <a:p>
            <a:r>
              <a:rPr lang="en-US" dirty="0"/>
              <a:t>No outliers detected</a:t>
            </a:r>
          </a:p>
          <a:p>
            <a:r>
              <a:rPr lang="en-US" dirty="0"/>
              <a:t>All data types correct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Dataset is clean and ready for analysis!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6E240-6C18-43F5-8022-6AB3D4B7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60221-AA1D-47B1-ADF2-842AEE92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3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3612-DD3C-4CF5-A287-71F6099F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Customer Statistics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A5ECF6-BFDC-4BE5-93D4-88905DEF6BD4}"/>
              </a:ext>
            </a:extLst>
          </p:cNvPr>
          <p:cNvSpPr/>
          <p:nvPr/>
        </p:nvSpPr>
        <p:spPr>
          <a:xfrm>
            <a:off x="1097279" y="3652197"/>
            <a:ext cx="1944303" cy="897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54 </a:t>
            </a:r>
            <a:br>
              <a:rPr lang="en-US" b="1" dirty="0"/>
            </a:br>
            <a:r>
              <a:rPr lang="en-US" b="1" dirty="0"/>
              <a:t>Avg 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D45696-FB13-42E4-A9FF-B2B0A866F370}"/>
              </a:ext>
            </a:extLst>
          </p:cNvPr>
          <p:cNvSpPr/>
          <p:nvPr/>
        </p:nvSpPr>
        <p:spPr>
          <a:xfrm>
            <a:off x="3917482" y="3652197"/>
            <a:ext cx="1944303" cy="8975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$109,742 </a:t>
            </a:r>
            <a:br>
              <a:rPr lang="en-US" b="1" dirty="0"/>
            </a:br>
            <a:r>
              <a:rPr lang="en-US" b="1" dirty="0"/>
              <a:t>Avg Income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029CC2-0116-4E57-9B34-A49E204A14AF}"/>
              </a:ext>
            </a:extLst>
          </p:cNvPr>
          <p:cNvSpPr/>
          <p:nvPr/>
        </p:nvSpPr>
        <p:spPr>
          <a:xfrm>
            <a:off x="6737685" y="3595648"/>
            <a:ext cx="2069432" cy="10106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15,079</a:t>
            </a:r>
          </a:p>
          <a:p>
            <a:pPr algn="ctr"/>
            <a:r>
              <a:rPr lang="en-US" b="1" dirty="0"/>
              <a:t>Customers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4F72C-A85F-4EA8-9251-59C4A31E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F9088-CD6C-497C-A6F6-359827EF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2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5BED-E115-4F27-9FA9-DEADA35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Gender-wise Spending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11E0-7423-4506-B07A-5AA505B00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2160983"/>
            <a:ext cx="4185617" cy="3880379"/>
          </a:xfrm>
        </p:spPr>
        <p:txBody>
          <a:bodyPr/>
          <a:lstStyle/>
          <a:p>
            <a:r>
              <a:rPr lang="en-US" sz="2100" b="1" i="1" dirty="0"/>
              <a:t>Key Finding:</a:t>
            </a:r>
          </a:p>
          <a:p>
            <a:r>
              <a:rPr lang="en-US" dirty="0"/>
              <a:t>Males spend slightly more (50.78) vs Females (50.39)</a:t>
            </a:r>
          </a:p>
          <a:p>
            <a:r>
              <a:rPr lang="en-US" dirty="0"/>
              <a:t>Difference is minimal — No significant gender gap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7DC48-156B-45FB-9C2A-5032C2CD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28664-CE88-4584-9840-D1840D8A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5</a:t>
            </a:fld>
            <a:endParaRPr lang="en-US"/>
          </a:p>
        </p:txBody>
      </p:sp>
      <p:pic>
        <p:nvPicPr>
          <p:cNvPr id="14" name="Content Placeholder 14">
            <a:extLst>
              <a:ext uri="{FF2B5EF4-FFF2-40B4-BE49-F238E27FC236}">
                <a16:creationId xmlns:a16="http://schemas.microsoft.com/office/drawing/2014/main" id="{F8F15E3F-A821-4575-9057-3C9A746DBF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717" y="2160983"/>
            <a:ext cx="4270667" cy="3647974"/>
          </a:xfrm>
        </p:spPr>
      </p:pic>
    </p:spTree>
    <p:extLst>
      <p:ext uri="{BB962C8B-B14F-4D97-AF65-F5344CB8AC3E}">
        <p14:creationId xmlns:p14="http://schemas.microsoft.com/office/powerpoint/2010/main" val="132613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DE61-FFAE-455B-A682-34992047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Group Spending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ECFCA-4EA5-45D3-BF47-A440DD1D0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1930401"/>
            <a:ext cx="4185617" cy="4110962"/>
          </a:xfrm>
        </p:spPr>
        <p:txBody>
          <a:bodyPr/>
          <a:lstStyle/>
          <a:p>
            <a:r>
              <a:rPr lang="en-US" dirty="0"/>
              <a:t>Key Finding:</a:t>
            </a:r>
          </a:p>
          <a:p>
            <a:r>
              <a:rPr lang="en-US" dirty="0"/>
              <a:t>Young customers (18-30) spend the most</a:t>
            </a:r>
          </a:p>
          <a:p>
            <a:r>
              <a:rPr lang="en-US" dirty="0"/>
              <a:t>Despite being the smallest group — highest value segment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B19A19-E642-4C16-81DC-3873BA3C5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4" y="1357162"/>
            <a:ext cx="3639058" cy="49959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90A484-842F-46E3-89F3-0728D531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8B1956D-5CBF-4667-AEBD-AA20E548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1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02DE-C70B-440A-8D75-D725C334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vs Spending Relationship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B4BAB-7F72-45F8-B067-9A5C7FBAA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2271563"/>
            <a:ext cx="4185617" cy="3769800"/>
          </a:xfrm>
        </p:spPr>
        <p:txBody>
          <a:bodyPr/>
          <a:lstStyle/>
          <a:p>
            <a:r>
              <a:rPr lang="en-US" sz="2100" b="1" i="1" dirty="0"/>
              <a:t>Key Finding:</a:t>
            </a:r>
          </a:p>
          <a:p>
            <a:r>
              <a:rPr lang="en-US" dirty="0"/>
              <a:t>No significant relationship between income and spending</a:t>
            </a:r>
          </a:p>
          <a:p>
            <a:r>
              <a:rPr lang="en-US" dirty="0"/>
              <a:t>All income groups score around 50/100</a:t>
            </a:r>
          </a:p>
          <a:p>
            <a:r>
              <a:rPr lang="en-US" dirty="0"/>
              <a:t>Mall should target ALL income groups equally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E76CEC-47F6-42BA-98A0-61F15BC0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87" y="2026034"/>
            <a:ext cx="4635995" cy="414745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D49985-8FE0-4799-B60F-AEAC9F572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4CAE31-E9A2-4E29-8295-32991CCF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6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3B3B-FFDC-4E83-97C6-284AF729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Segmentation Results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65A5E0B4-D300-4057-AF6D-3425CEC0C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735644"/>
              </p:ext>
            </p:extLst>
          </p:nvPr>
        </p:nvGraphicFramePr>
        <p:xfrm>
          <a:off x="677863" y="2160588"/>
          <a:ext cx="8596311" cy="2767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49518709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02385879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02849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36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Income High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5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Income Low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26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 Income High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969892"/>
                  </a:ext>
                </a:extLst>
              </a:tr>
              <a:tr h="476467">
                <a:tc>
                  <a:txBody>
                    <a:bodyPr/>
                    <a:lstStyle/>
                    <a:p>
                      <a:r>
                        <a:rPr lang="en-US" dirty="0"/>
                        <a:t>Low Income Low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66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511615-2C76-4ED2-9FA3-8528856439AA}"/>
              </a:ext>
            </a:extLst>
          </p:cNvPr>
          <p:cNvSpPr txBox="1"/>
          <p:nvPr/>
        </p:nvSpPr>
        <p:spPr>
          <a:xfrm>
            <a:off x="677334" y="5313145"/>
            <a:ext cx="8596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segments roughly equal, balanced customer base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6005D-E662-4DA6-ABB4-0AAF3F5B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C75069-EE6A-4FB9-903C-D5756A9F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6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0174-BDBC-4530-B7B6-E0FA26FC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2808"/>
          </a:xfrm>
        </p:spPr>
        <p:txBody>
          <a:bodyPr>
            <a:normAutofit fontScale="90000"/>
          </a:bodyPr>
          <a:lstStyle/>
          <a:p>
            <a:r>
              <a:rPr lang="en-US" dirty="0"/>
              <a:t>Interactive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2593F-8BA4-46AD-8150-D99E7C301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408"/>
            <a:ext cx="12192000" cy="562753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60B1A-2DAA-4F53-9D10-3FBDDF0A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CDC79-2097-4120-807D-0E7AC9A4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5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928E-BD63-4CB8-A59F-5263FAC5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7562"/>
          </a:xfrm>
        </p:spPr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73ED-614C-4E1C-BCF8-6BCE61DE9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2783"/>
            <a:ext cx="8596668" cy="48285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PRIMARY TARGET — High Income Low Spending</a:t>
            </a:r>
          </a:p>
          <a:p>
            <a:r>
              <a:rPr lang="en-US" dirty="0"/>
              <a:t>   • 3,687 customers with high potential</a:t>
            </a:r>
          </a:p>
          <a:p>
            <a:r>
              <a:rPr lang="en-US" dirty="0"/>
              <a:t>   • Offer: Premium brands, VIP lounges, Exclusive events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ATTRACT LOW SPENDERS</a:t>
            </a:r>
          </a:p>
          <a:p>
            <a:r>
              <a:rPr lang="en-US" dirty="0"/>
              <a:t>   • High Income → Luxury experience, Membership cards</a:t>
            </a:r>
          </a:p>
          <a:p>
            <a:r>
              <a:rPr lang="en-US" dirty="0"/>
              <a:t>   • Low Income → Discounts, Buy now pay later, BOGO offers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RETAIN HIGH SPENDERS</a:t>
            </a:r>
          </a:p>
          <a:p>
            <a:r>
              <a:rPr lang="en-US" dirty="0"/>
              <a:t>   • 3,799 valuable customers</a:t>
            </a:r>
          </a:p>
          <a:p>
            <a:r>
              <a:rPr lang="en-US" dirty="0"/>
              <a:t>   • Strategy: Loyalty programs, Personal shopping, Early access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C2B7E-3842-4A82-9DF6-75BF1B06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8F7DB-1DA9-4762-8D5D-51D904C3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90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BAF4-07A2-48C7-BC04-787ABC8C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BB83E-96ED-4D13-B06C-DC23F10B2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15,079 customers analyzed across 5 dimensions</a:t>
            </a:r>
          </a:p>
          <a:p>
            <a:r>
              <a:rPr lang="en-US" dirty="0"/>
              <a:t>Spending behavior NOT driven by income level</a:t>
            </a:r>
          </a:p>
          <a:p>
            <a:r>
              <a:rPr lang="en-US" dirty="0"/>
              <a:t>Young customers are highest value despite small size</a:t>
            </a:r>
          </a:p>
          <a:p>
            <a:r>
              <a:rPr lang="en-US" dirty="0"/>
              <a:t>4 balanced segments — each ~25% of customers</a:t>
            </a:r>
          </a:p>
          <a:p>
            <a:r>
              <a:rPr lang="en-US" dirty="0"/>
              <a:t>High Income Low Spending = Biggest opportunity</a:t>
            </a:r>
          </a:p>
          <a:p>
            <a:r>
              <a:rPr lang="en-US" dirty="0"/>
              <a:t>Recommended: Premium experiences + Loyalty programs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EBFE0-12B9-4739-B2EB-AF2DF787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Linda Florentius K.A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DC7C6-0E9E-4FA1-86AE-327C0E17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E61D-4D10-492F-BF4F-844439EB2A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5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651</TotalTime>
  <Words>414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Shopping Mall Customer Segmentation Analysis</vt:lpstr>
      <vt:lpstr>Project Overview</vt:lpstr>
      <vt:lpstr>Data Cleaning Results</vt:lpstr>
      <vt:lpstr>Key Customer Statistics</vt:lpstr>
      <vt:lpstr>Gender-wise Spending Analysis</vt:lpstr>
      <vt:lpstr>Age Group Spending Analysis</vt:lpstr>
      <vt:lpstr>Income vs Spending Relationship</vt:lpstr>
      <vt:lpstr>Customer Segmentation Results</vt:lpstr>
      <vt:lpstr>Interactive Dashboard</vt:lpstr>
      <vt:lpstr>Business Recommendations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15</cp:revision>
  <dcterms:created xsi:type="dcterms:W3CDTF">2026-05-02T02:38:33Z</dcterms:created>
  <dcterms:modified xsi:type="dcterms:W3CDTF">2026-05-02T13:29:53Z</dcterms:modified>
</cp:coreProperties>
</file>